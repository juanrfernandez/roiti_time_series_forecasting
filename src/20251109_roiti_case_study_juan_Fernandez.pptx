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FB0B3-323B-4B89-AA21-5E806C0CF4C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7C548E7-ED2B-46B1-83BB-99FAB2E1921A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Critical Missing Data: Weather forecasts</a:t>
          </a:r>
        </a:p>
      </dgm:t>
    </dgm:pt>
    <dgm:pt modelId="{D1DF1261-4E21-4A9D-8693-8297F1759263}" type="parTrans" cxnId="{7DAA11F9-EC51-42A6-A146-EE67BC96ED8B}">
      <dgm:prSet/>
      <dgm:spPr/>
      <dgm:t>
        <a:bodyPr/>
        <a:lstStyle/>
        <a:p>
          <a:endParaRPr lang="en-US"/>
        </a:p>
      </dgm:t>
    </dgm:pt>
    <dgm:pt modelId="{A174D257-E9E7-4346-B66A-ADF6F4C3D934}" type="sibTrans" cxnId="{7DAA11F9-EC51-42A6-A146-EE67BC96ED8B}">
      <dgm:prSet/>
      <dgm:spPr/>
      <dgm:t>
        <a:bodyPr/>
        <a:lstStyle/>
        <a:p>
          <a:endParaRPr lang="en-US"/>
        </a:p>
      </dgm:t>
    </dgm:pt>
    <dgm:pt modelId="{F823C858-65E8-4DD9-8CED-69CBD598A664}">
      <dgm:prSet/>
      <dgm:spPr/>
      <dgm:t>
        <a:bodyPr/>
        <a:lstStyle/>
        <a:p>
          <a:r>
            <a:rPr lang="en-US"/>
            <a:t>- Wind speed, solar irradiance, cloud cover</a:t>
          </a:r>
        </a:p>
      </dgm:t>
    </dgm:pt>
    <dgm:pt modelId="{C21CEDE2-69EA-44C2-A384-1D588C7662CA}" type="parTrans" cxnId="{95C3AE49-8789-4792-B5C0-132056A950C7}">
      <dgm:prSet/>
      <dgm:spPr/>
      <dgm:t>
        <a:bodyPr/>
        <a:lstStyle/>
        <a:p>
          <a:endParaRPr lang="en-US"/>
        </a:p>
      </dgm:t>
    </dgm:pt>
    <dgm:pt modelId="{036C2372-F2C3-4912-9856-1C5B32EBDC87}" type="sibTrans" cxnId="{95C3AE49-8789-4792-B5C0-132056A950C7}">
      <dgm:prSet/>
      <dgm:spPr/>
      <dgm:t>
        <a:bodyPr/>
        <a:lstStyle/>
        <a:p>
          <a:endParaRPr lang="en-US"/>
        </a:p>
      </dgm:t>
    </dgm:pt>
    <dgm:pt modelId="{A7B64AE9-84A5-4804-A771-53711283ABD7}">
      <dgm:prSet/>
      <dgm:spPr/>
      <dgm:t>
        <a:bodyPr/>
        <a:lstStyle/>
        <a:p>
          <a:r>
            <a:rPr lang="en-US"/>
            <a:t>- Direct drivers of generation</a:t>
          </a:r>
        </a:p>
      </dgm:t>
    </dgm:pt>
    <dgm:pt modelId="{39FA5A5C-FDC5-46D9-9805-B3131E94824A}" type="parTrans" cxnId="{C1812DBA-91A7-4D0C-9B16-FEDC4A6634D9}">
      <dgm:prSet/>
      <dgm:spPr/>
      <dgm:t>
        <a:bodyPr/>
        <a:lstStyle/>
        <a:p>
          <a:endParaRPr lang="en-US"/>
        </a:p>
      </dgm:t>
    </dgm:pt>
    <dgm:pt modelId="{08809D32-C3FB-4325-B98A-289BC3AAE046}" type="sibTrans" cxnId="{C1812DBA-91A7-4D0C-9B16-FEDC4A6634D9}">
      <dgm:prSet/>
      <dgm:spPr/>
      <dgm:t>
        <a:bodyPr/>
        <a:lstStyle/>
        <a:p>
          <a:endParaRPr lang="en-US"/>
        </a:p>
      </dgm:t>
    </dgm:pt>
    <dgm:pt modelId="{9E952B15-9401-472F-9453-71B4AE6AAF25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Impact on Evaluation:</a:t>
          </a:r>
        </a:p>
      </dgm:t>
    </dgm:pt>
    <dgm:pt modelId="{0B448D4D-7FE7-4B53-B6EB-52B832AFF57E}" type="parTrans" cxnId="{6EBA0099-8DF5-4760-B4CD-83A4449D26D1}">
      <dgm:prSet/>
      <dgm:spPr/>
      <dgm:t>
        <a:bodyPr/>
        <a:lstStyle/>
        <a:p>
          <a:endParaRPr lang="en-US"/>
        </a:p>
      </dgm:t>
    </dgm:pt>
    <dgm:pt modelId="{95CEA437-DC4C-43D5-B4F2-C4CB6EE98898}" type="sibTrans" cxnId="{6EBA0099-8DF5-4760-B4CD-83A4449D26D1}">
      <dgm:prSet/>
      <dgm:spPr/>
      <dgm:t>
        <a:bodyPr/>
        <a:lstStyle/>
        <a:p>
          <a:endParaRPr lang="en-US"/>
        </a:p>
      </dgm:t>
    </dgm:pt>
    <dgm:pt modelId="{74E89BDF-F27F-494D-BE53-5BF7C13F0A37}">
      <dgm:prSet/>
      <dgm:spPr/>
      <dgm:t>
        <a:bodyPr/>
        <a:lstStyle/>
        <a:p>
          <a:r>
            <a:rPr lang="en-US" dirty="0"/>
            <a:t>- Obtain historical weather (DWD archives)</a:t>
          </a:r>
        </a:p>
      </dgm:t>
    </dgm:pt>
    <dgm:pt modelId="{C67086BB-70E1-4B3F-8466-80BC438E972E}" type="parTrans" cxnId="{CEE46DC0-4E7F-47EE-9EE6-0619EFD7A22C}">
      <dgm:prSet/>
      <dgm:spPr/>
      <dgm:t>
        <a:bodyPr/>
        <a:lstStyle/>
        <a:p>
          <a:endParaRPr lang="en-US"/>
        </a:p>
      </dgm:t>
    </dgm:pt>
    <dgm:pt modelId="{1310F3F8-65B0-4252-A588-E602720EB2AE}" type="sibTrans" cxnId="{CEE46DC0-4E7F-47EE-9EE6-0619EFD7A22C}">
      <dgm:prSet/>
      <dgm:spPr/>
      <dgm:t>
        <a:bodyPr/>
        <a:lstStyle/>
        <a:p>
          <a:endParaRPr lang="en-US"/>
        </a:p>
      </dgm:t>
    </dgm:pt>
    <dgm:pt modelId="{DB77AF58-CA57-473A-8747-63936D4BFA90}">
      <dgm:prSet/>
      <dgm:spPr/>
      <dgm:t>
        <a:bodyPr/>
        <a:lstStyle/>
        <a:p>
          <a:r>
            <a:rPr lang="en-US" dirty="0"/>
            <a:t>- Add as model features</a:t>
          </a:r>
        </a:p>
      </dgm:t>
    </dgm:pt>
    <dgm:pt modelId="{D988D13F-844C-4364-A9D2-1576FB824A45}" type="parTrans" cxnId="{FC9D2D7C-6B1A-478F-B9B4-56AFD1D7DE7E}">
      <dgm:prSet/>
      <dgm:spPr/>
      <dgm:t>
        <a:bodyPr/>
        <a:lstStyle/>
        <a:p>
          <a:endParaRPr lang="en-US"/>
        </a:p>
      </dgm:t>
    </dgm:pt>
    <dgm:pt modelId="{8D037DBA-EA7A-4865-922D-C645F3FF7710}" type="sibTrans" cxnId="{FC9D2D7C-6B1A-478F-B9B4-56AFD1D7DE7E}">
      <dgm:prSet/>
      <dgm:spPr/>
      <dgm:t>
        <a:bodyPr/>
        <a:lstStyle/>
        <a:p>
          <a:endParaRPr lang="en-US"/>
        </a:p>
      </dgm:t>
    </dgm:pt>
    <dgm:pt modelId="{9C6BC526-918D-41F4-AF08-17036A4D9FF3}">
      <dgm:prSet/>
      <dgm:spPr/>
      <dgm:t>
        <a:bodyPr/>
        <a:lstStyle/>
        <a:p>
          <a:r>
            <a:rPr lang="en-US"/>
            <a:t>- Expected improvement: +5-30%</a:t>
          </a:r>
        </a:p>
      </dgm:t>
    </dgm:pt>
    <dgm:pt modelId="{106955C5-8577-4467-A294-287971693CB2}" type="parTrans" cxnId="{56AA8FE1-EF81-43DC-940B-6093A0087EF3}">
      <dgm:prSet/>
      <dgm:spPr/>
      <dgm:t>
        <a:bodyPr/>
        <a:lstStyle/>
        <a:p>
          <a:endParaRPr lang="en-US"/>
        </a:p>
      </dgm:t>
    </dgm:pt>
    <dgm:pt modelId="{0058EF9F-F948-4E85-AF10-E4E2A06762FE}" type="sibTrans" cxnId="{56AA8FE1-EF81-43DC-940B-6093A0087EF3}">
      <dgm:prSet/>
      <dgm:spPr/>
      <dgm:t>
        <a:bodyPr/>
        <a:lstStyle/>
        <a:p>
          <a:endParaRPr lang="en-US"/>
        </a:p>
      </dgm:t>
    </dgm:pt>
    <dgm:pt modelId="{4B6EDAC3-A47D-40E7-A3C3-20A09A7D9645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Production Integration:</a:t>
          </a:r>
        </a:p>
      </dgm:t>
    </dgm:pt>
    <dgm:pt modelId="{4743C8D1-7577-43C7-8684-4C805319ADB7}" type="parTrans" cxnId="{168557D1-15A8-432E-96A5-A283A374E219}">
      <dgm:prSet/>
      <dgm:spPr/>
      <dgm:t>
        <a:bodyPr/>
        <a:lstStyle/>
        <a:p>
          <a:endParaRPr lang="en-US"/>
        </a:p>
      </dgm:t>
    </dgm:pt>
    <dgm:pt modelId="{80F89013-0B66-4818-8A4B-91710833270D}" type="sibTrans" cxnId="{168557D1-15A8-432E-96A5-A283A374E219}">
      <dgm:prSet/>
      <dgm:spPr/>
      <dgm:t>
        <a:bodyPr/>
        <a:lstStyle/>
        <a:p>
          <a:endParaRPr lang="en-US"/>
        </a:p>
      </dgm:t>
    </dgm:pt>
    <dgm:pt modelId="{8ECFE10F-861E-498C-BFC1-EA878D4FBE8C}">
      <dgm:prSet/>
      <dgm:spPr/>
      <dgm:t>
        <a:bodyPr/>
        <a:lstStyle/>
        <a:p>
          <a:r>
            <a:rPr lang="en-US"/>
            <a:t>- Fetch forecasts at 10:00 CET daily</a:t>
          </a:r>
        </a:p>
      </dgm:t>
    </dgm:pt>
    <dgm:pt modelId="{4D08A6AD-83DB-4B3D-9FD1-28C3FADA0196}" type="parTrans" cxnId="{B568D39F-7152-4C09-9F2F-1BF605B9F189}">
      <dgm:prSet/>
      <dgm:spPr/>
      <dgm:t>
        <a:bodyPr/>
        <a:lstStyle/>
        <a:p>
          <a:endParaRPr lang="en-US"/>
        </a:p>
      </dgm:t>
    </dgm:pt>
    <dgm:pt modelId="{5E55DAE4-BE89-408C-B870-B8B5A26E3F46}" type="sibTrans" cxnId="{B568D39F-7152-4C09-9F2F-1BF605B9F189}">
      <dgm:prSet/>
      <dgm:spPr/>
      <dgm:t>
        <a:bodyPr/>
        <a:lstStyle/>
        <a:p>
          <a:endParaRPr lang="en-US"/>
        </a:p>
      </dgm:t>
    </dgm:pt>
    <dgm:pt modelId="{6467BBD1-C86E-40CD-A36B-4B9CE06AEEC3}">
      <dgm:prSet/>
      <dgm:spPr/>
      <dgm:t>
        <a:bodyPr/>
        <a:lstStyle/>
        <a:p>
          <a:r>
            <a:rPr lang="en-US"/>
            <a:t>- Feed into model as exogenous variables</a:t>
          </a:r>
        </a:p>
      </dgm:t>
    </dgm:pt>
    <dgm:pt modelId="{73424CFE-30EA-4A7B-A533-B6C7B0098DC5}" type="parTrans" cxnId="{4B0BD9C5-7304-40AA-89D8-4D42B9DCB619}">
      <dgm:prSet/>
      <dgm:spPr/>
      <dgm:t>
        <a:bodyPr/>
        <a:lstStyle/>
        <a:p>
          <a:endParaRPr lang="en-US"/>
        </a:p>
      </dgm:t>
    </dgm:pt>
    <dgm:pt modelId="{9E870A15-259F-444E-8284-1EA319791059}" type="sibTrans" cxnId="{4B0BD9C5-7304-40AA-89D8-4D42B9DCB619}">
      <dgm:prSet/>
      <dgm:spPr/>
      <dgm:t>
        <a:bodyPr/>
        <a:lstStyle/>
        <a:p>
          <a:endParaRPr lang="en-US"/>
        </a:p>
      </dgm:t>
    </dgm:pt>
    <dgm:pt modelId="{2AF85E1B-49DF-4335-80F1-29EDA1A5FBDE}">
      <dgm:prSet/>
      <dgm:spPr/>
      <dgm:t>
        <a:bodyPr/>
        <a:lstStyle/>
        <a:p>
          <a:r>
            <a:rPr lang="en-US"/>
            <a:t>- Generate predictions by 12:00 CET</a:t>
          </a:r>
        </a:p>
      </dgm:t>
    </dgm:pt>
    <dgm:pt modelId="{E99AFFBC-F9E4-481E-9700-47DFB1E3697B}" type="parTrans" cxnId="{C06EA275-3801-4E2B-A4DA-F013A391CA16}">
      <dgm:prSet/>
      <dgm:spPr/>
      <dgm:t>
        <a:bodyPr/>
        <a:lstStyle/>
        <a:p>
          <a:endParaRPr lang="en-US"/>
        </a:p>
      </dgm:t>
    </dgm:pt>
    <dgm:pt modelId="{4D0E05DF-D881-4E95-A146-11BE1516D93E}" type="sibTrans" cxnId="{C06EA275-3801-4E2B-A4DA-F013A391CA16}">
      <dgm:prSet/>
      <dgm:spPr/>
      <dgm:t>
        <a:bodyPr/>
        <a:lstStyle/>
        <a:p>
          <a:endParaRPr lang="en-US"/>
        </a:p>
      </dgm:t>
    </dgm:pt>
    <dgm:pt modelId="{42D34341-5BF1-49BE-8C1D-C23BD38E08EE}">
      <dgm:prSet/>
      <dgm:spPr/>
      <dgm:t>
        <a:bodyPr/>
        <a:lstStyle/>
        <a:p>
          <a:r>
            <a:rPr lang="en-US" dirty="0"/>
            <a:t>Train “SARIMAX”</a:t>
          </a:r>
        </a:p>
      </dgm:t>
    </dgm:pt>
    <dgm:pt modelId="{57F7BAC5-898F-4F86-B6F2-411D30D97612}" type="parTrans" cxnId="{7322D88F-F5B7-4A2B-B1D4-564AB2B00C6D}">
      <dgm:prSet/>
      <dgm:spPr/>
      <dgm:t>
        <a:bodyPr/>
        <a:lstStyle/>
        <a:p>
          <a:endParaRPr lang="en-DE"/>
        </a:p>
      </dgm:t>
    </dgm:pt>
    <dgm:pt modelId="{796B1A3A-8805-48B5-B427-F640C9651AC7}" type="sibTrans" cxnId="{7322D88F-F5B7-4A2B-B1D4-564AB2B00C6D}">
      <dgm:prSet/>
      <dgm:spPr/>
      <dgm:t>
        <a:bodyPr/>
        <a:lstStyle/>
        <a:p>
          <a:endParaRPr lang="en-DE"/>
        </a:p>
      </dgm:t>
    </dgm:pt>
    <dgm:pt modelId="{32FD92EA-ABF4-4ACC-AFA1-512F9D207833}" type="pres">
      <dgm:prSet presAssocID="{9C5FB0B3-323B-4B89-AA21-5E806C0CF4C5}" presName="linear" presStyleCnt="0">
        <dgm:presLayoutVars>
          <dgm:animLvl val="lvl"/>
          <dgm:resizeHandles val="exact"/>
        </dgm:presLayoutVars>
      </dgm:prSet>
      <dgm:spPr/>
    </dgm:pt>
    <dgm:pt modelId="{E9CA653B-B7B3-43BF-8D3B-B2DA1B484177}" type="pres">
      <dgm:prSet presAssocID="{E7C548E7-ED2B-46B1-83BB-99FAB2E1921A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A4B9463A-B516-4C7F-95CA-2A2CFBA5603A}" type="pres">
      <dgm:prSet presAssocID="{A174D257-E9E7-4346-B66A-ADF6F4C3D934}" presName="spacer" presStyleCnt="0"/>
      <dgm:spPr/>
    </dgm:pt>
    <dgm:pt modelId="{2A4A2EAA-9326-4D1A-AADD-5CC5BBE8127E}" type="pres">
      <dgm:prSet presAssocID="{F823C858-65E8-4DD9-8CED-69CBD598A664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9C3EB606-7057-4FC6-9F1A-81FF6F335B84}" type="pres">
      <dgm:prSet presAssocID="{036C2372-F2C3-4912-9856-1C5B32EBDC87}" presName="spacer" presStyleCnt="0"/>
      <dgm:spPr/>
    </dgm:pt>
    <dgm:pt modelId="{B8D7C09B-4AFA-447B-BC26-9C26119188A7}" type="pres">
      <dgm:prSet presAssocID="{A7B64AE9-84A5-4804-A771-53711283ABD7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FAA341E6-F36A-4334-BE10-412942987E84}" type="pres">
      <dgm:prSet presAssocID="{08809D32-C3FB-4325-B98A-289BC3AAE046}" presName="spacer" presStyleCnt="0"/>
      <dgm:spPr/>
    </dgm:pt>
    <dgm:pt modelId="{6972100E-2C28-40C4-9678-AD668F61FA13}" type="pres">
      <dgm:prSet presAssocID="{9E952B15-9401-472F-9453-71B4AE6AAF25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C19FB566-D8E9-4018-BABC-C000ABC96CD6}" type="pres">
      <dgm:prSet presAssocID="{95CEA437-DC4C-43D5-B4F2-C4CB6EE98898}" presName="spacer" presStyleCnt="0"/>
      <dgm:spPr/>
    </dgm:pt>
    <dgm:pt modelId="{AC4C8DDB-9CD9-477C-99DE-DC46C898EE61}" type="pres">
      <dgm:prSet presAssocID="{74E89BDF-F27F-494D-BE53-5BF7C13F0A37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EA3E2B40-6B40-47D5-9EFF-C2BFF82D09D4}" type="pres">
      <dgm:prSet presAssocID="{1310F3F8-65B0-4252-A588-E602720EB2AE}" presName="spacer" presStyleCnt="0"/>
      <dgm:spPr/>
    </dgm:pt>
    <dgm:pt modelId="{72CAEB67-87AD-43E5-95EF-0FE9F0683D32}" type="pres">
      <dgm:prSet presAssocID="{DB77AF58-CA57-473A-8747-63936D4BFA90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1B054D73-2E28-4146-A50D-8A85CFDF6BF5}" type="pres">
      <dgm:prSet presAssocID="{8D037DBA-EA7A-4865-922D-C645F3FF7710}" presName="spacer" presStyleCnt="0"/>
      <dgm:spPr/>
    </dgm:pt>
    <dgm:pt modelId="{1CEE176E-0095-479C-B717-6740DDE4A3E4}" type="pres">
      <dgm:prSet presAssocID="{42D34341-5BF1-49BE-8C1D-C23BD38E08EE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658CF80B-7C83-4320-9A3A-EDADA38AEFB2}" type="pres">
      <dgm:prSet presAssocID="{796B1A3A-8805-48B5-B427-F640C9651AC7}" presName="spacer" presStyleCnt="0"/>
      <dgm:spPr/>
    </dgm:pt>
    <dgm:pt modelId="{EA5FF672-BDD2-4B78-B2BA-77130FE85463}" type="pres">
      <dgm:prSet presAssocID="{9C6BC526-918D-41F4-AF08-17036A4D9FF3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2BB8A76D-2BED-4009-AD9B-1225C464637C}" type="pres">
      <dgm:prSet presAssocID="{0058EF9F-F948-4E85-AF10-E4E2A06762FE}" presName="spacer" presStyleCnt="0"/>
      <dgm:spPr/>
    </dgm:pt>
    <dgm:pt modelId="{23AA6125-CAB0-4959-AF3B-F672E96E9D90}" type="pres">
      <dgm:prSet presAssocID="{4B6EDAC3-A47D-40E7-A3C3-20A09A7D9645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8A1E5445-7882-457E-9773-C87236FE497A}" type="pres">
      <dgm:prSet presAssocID="{80F89013-0B66-4818-8A4B-91710833270D}" presName="spacer" presStyleCnt="0"/>
      <dgm:spPr/>
    </dgm:pt>
    <dgm:pt modelId="{B3AEEEF5-FB5A-4DCA-8B27-081E3EF16189}" type="pres">
      <dgm:prSet presAssocID="{8ECFE10F-861E-498C-BFC1-EA878D4FBE8C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3E23B1DE-9EFE-4383-BF6E-996E91D2B19A}" type="pres">
      <dgm:prSet presAssocID="{5E55DAE4-BE89-408C-B870-B8B5A26E3F46}" presName="spacer" presStyleCnt="0"/>
      <dgm:spPr/>
    </dgm:pt>
    <dgm:pt modelId="{96B27035-FC61-48C0-BB95-8FE2BD6B4493}" type="pres">
      <dgm:prSet presAssocID="{6467BBD1-C86E-40CD-A36B-4B9CE06AEEC3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E03DC423-6CA4-4115-BAC1-398CD9BEC061}" type="pres">
      <dgm:prSet presAssocID="{9E870A15-259F-444E-8284-1EA319791059}" presName="spacer" presStyleCnt="0"/>
      <dgm:spPr/>
    </dgm:pt>
    <dgm:pt modelId="{28832BC1-0D2C-4A54-97EE-69EA184962A1}" type="pres">
      <dgm:prSet presAssocID="{2AF85E1B-49DF-4335-80F1-29EDA1A5FBDE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85BB4004-F79C-4051-83A8-8295CE8B7E02}" type="presOf" srcId="{42D34341-5BF1-49BE-8C1D-C23BD38E08EE}" destId="{1CEE176E-0095-479C-B717-6740DDE4A3E4}" srcOrd="0" destOrd="0" presId="urn:microsoft.com/office/officeart/2005/8/layout/vList2"/>
    <dgm:cxn modelId="{5825A80E-5A13-482A-8228-E50FF2F8562E}" type="presOf" srcId="{9E952B15-9401-472F-9453-71B4AE6AAF25}" destId="{6972100E-2C28-40C4-9678-AD668F61FA13}" srcOrd="0" destOrd="0" presId="urn:microsoft.com/office/officeart/2005/8/layout/vList2"/>
    <dgm:cxn modelId="{AE026813-1659-4D19-8479-96DFDEC2433D}" type="presOf" srcId="{F823C858-65E8-4DD9-8CED-69CBD598A664}" destId="{2A4A2EAA-9326-4D1A-AADD-5CC5BBE8127E}" srcOrd="0" destOrd="0" presId="urn:microsoft.com/office/officeart/2005/8/layout/vList2"/>
    <dgm:cxn modelId="{CC10835E-9DC4-4FCD-B715-40B3206465F9}" type="presOf" srcId="{74E89BDF-F27F-494D-BE53-5BF7C13F0A37}" destId="{AC4C8DDB-9CD9-477C-99DE-DC46C898EE61}" srcOrd="0" destOrd="0" presId="urn:microsoft.com/office/officeart/2005/8/layout/vList2"/>
    <dgm:cxn modelId="{EB938244-AB21-4971-AEBB-F14FB86863B5}" type="presOf" srcId="{4B6EDAC3-A47D-40E7-A3C3-20A09A7D9645}" destId="{23AA6125-CAB0-4959-AF3B-F672E96E9D90}" srcOrd="0" destOrd="0" presId="urn:microsoft.com/office/officeart/2005/8/layout/vList2"/>
    <dgm:cxn modelId="{95C3AE49-8789-4792-B5C0-132056A950C7}" srcId="{9C5FB0B3-323B-4B89-AA21-5E806C0CF4C5}" destId="{F823C858-65E8-4DD9-8CED-69CBD598A664}" srcOrd="1" destOrd="0" parTransId="{C21CEDE2-69EA-44C2-A384-1D588C7662CA}" sibTransId="{036C2372-F2C3-4912-9856-1C5B32EBDC87}"/>
    <dgm:cxn modelId="{FDB79F4E-74F2-47F7-BFB0-914436932694}" type="presOf" srcId="{9C5FB0B3-323B-4B89-AA21-5E806C0CF4C5}" destId="{32FD92EA-ABF4-4ACC-AFA1-512F9D207833}" srcOrd="0" destOrd="0" presId="urn:microsoft.com/office/officeart/2005/8/layout/vList2"/>
    <dgm:cxn modelId="{C06EA275-3801-4E2B-A4DA-F013A391CA16}" srcId="{9C5FB0B3-323B-4B89-AA21-5E806C0CF4C5}" destId="{2AF85E1B-49DF-4335-80F1-29EDA1A5FBDE}" srcOrd="11" destOrd="0" parTransId="{E99AFFBC-F9E4-481E-9700-47DFB1E3697B}" sibTransId="{4D0E05DF-D881-4E95-A146-11BE1516D93E}"/>
    <dgm:cxn modelId="{FC9D2D7C-6B1A-478F-B9B4-56AFD1D7DE7E}" srcId="{9C5FB0B3-323B-4B89-AA21-5E806C0CF4C5}" destId="{DB77AF58-CA57-473A-8747-63936D4BFA90}" srcOrd="5" destOrd="0" parTransId="{D988D13F-844C-4364-A9D2-1576FB824A45}" sibTransId="{8D037DBA-EA7A-4865-922D-C645F3FF7710}"/>
    <dgm:cxn modelId="{7322D88F-F5B7-4A2B-B1D4-564AB2B00C6D}" srcId="{9C5FB0B3-323B-4B89-AA21-5E806C0CF4C5}" destId="{42D34341-5BF1-49BE-8C1D-C23BD38E08EE}" srcOrd="6" destOrd="0" parTransId="{57F7BAC5-898F-4F86-B6F2-411D30D97612}" sibTransId="{796B1A3A-8805-48B5-B427-F640C9651AC7}"/>
    <dgm:cxn modelId="{7A419297-AE8F-4788-A1E1-5453FC6E8787}" type="presOf" srcId="{8ECFE10F-861E-498C-BFC1-EA878D4FBE8C}" destId="{B3AEEEF5-FB5A-4DCA-8B27-081E3EF16189}" srcOrd="0" destOrd="0" presId="urn:microsoft.com/office/officeart/2005/8/layout/vList2"/>
    <dgm:cxn modelId="{6EBA0099-8DF5-4760-B4CD-83A4449D26D1}" srcId="{9C5FB0B3-323B-4B89-AA21-5E806C0CF4C5}" destId="{9E952B15-9401-472F-9453-71B4AE6AAF25}" srcOrd="3" destOrd="0" parTransId="{0B448D4D-7FE7-4B53-B6EB-52B832AFF57E}" sibTransId="{95CEA437-DC4C-43D5-B4F2-C4CB6EE98898}"/>
    <dgm:cxn modelId="{B568D39F-7152-4C09-9F2F-1BF605B9F189}" srcId="{9C5FB0B3-323B-4B89-AA21-5E806C0CF4C5}" destId="{8ECFE10F-861E-498C-BFC1-EA878D4FBE8C}" srcOrd="9" destOrd="0" parTransId="{4D08A6AD-83DB-4B3D-9FD1-28C3FADA0196}" sibTransId="{5E55DAE4-BE89-408C-B870-B8B5A26E3F46}"/>
    <dgm:cxn modelId="{C1812DBA-91A7-4D0C-9B16-FEDC4A6634D9}" srcId="{9C5FB0B3-323B-4B89-AA21-5E806C0CF4C5}" destId="{A7B64AE9-84A5-4804-A771-53711283ABD7}" srcOrd="2" destOrd="0" parTransId="{39FA5A5C-FDC5-46D9-9805-B3131E94824A}" sibTransId="{08809D32-C3FB-4325-B98A-289BC3AAE046}"/>
    <dgm:cxn modelId="{CEE46DC0-4E7F-47EE-9EE6-0619EFD7A22C}" srcId="{9C5FB0B3-323B-4B89-AA21-5E806C0CF4C5}" destId="{74E89BDF-F27F-494D-BE53-5BF7C13F0A37}" srcOrd="4" destOrd="0" parTransId="{C67086BB-70E1-4B3F-8466-80BC438E972E}" sibTransId="{1310F3F8-65B0-4252-A588-E602720EB2AE}"/>
    <dgm:cxn modelId="{3C178BC2-B17D-45BE-9F96-2E453F41BC2C}" type="presOf" srcId="{DB77AF58-CA57-473A-8747-63936D4BFA90}" destId="{72CAEB67-87AD-43E5-95EF-0FE9F0683D32}" srcOrd="0" destOrd="0" presId="urn:microsoft.com/office/officeart/2005/8/layout/vList2"/>
    <dgm:cxn modelId="{4B0BD9C5-7304-40AA-89D8-4D42B9DCB619}" srcId="{9C5FB0B3-323B-4B89-AA21-5E806C0CF4C5}" destId="{6467BBD1-C86E-40CD-A36B-4B9CE06AEEC3}" srcOrd="10" destOrd="0" parTransId="{73424CFE-30EA-4A7B-A533-B6C7B0098DC5}" sibTransId="{9E870A15-259F-444E-8284-1EA319791059}"/>
    <dgm:cxn modelId="{168557D1-15A8-432E-96A5-A283A374E219}" srcId="{9C5FB0B3-323B-4B89-AA21-5E806C0CF4C5}" destId="{4B6EDAC3-A47D-40E7-A3C3-20A09A7D9645}" srcOrd="8" destOrd="0" parTransId="{4743C8D1-7577-43C7-8684-4C805319ADB7}" sibTransId="{80F89013-0B66-4818-8A4B-91710833270D}"/>
    <dgm:cxn modelId="{9EE6CDD2-E7AC-4A33-A74C-D24A7AB49124}" type="presOf" srcId="{6467BBD1-C86E-40CD-A36B-4B9CE06AEEC3}" destId="{96B27035-FC61-48C0-BB95-8FE2BD6B4493}" srcOrd="0" destOrd="0" presId="urn:microsoft.com/office/officeart/2005/8/layout/vList2"/>
    <dgm:cxn modelId="{D909E8D6-CDF7-46EE-A2D7-2FD500AE19F9}" type="presOf" srcId="{2AF85E1B-49DF-4335-80F1-29EDA1A5FBDE}" destId="{28832BC1-0D2C-4A54-97EE-69EA184962A1}" srcOrd="0" destOrd="0" presId="urn:microsoft.com/office/officeart/2005/8/layout/vList2"/>
    <dgm:cxn modelId="{1129D5DB-C8D4-4E9F-A675-DB2448802C97}" type="presOf" srcId="{E7C548E7-ED2B-46B1-83BB-99FAB2E1921A}" destId="{E9CA653B-B7B3-43BF-8D3B-B2DA1B484177}" srcOrd="0" destOrd="0" presId="urn:microsoft.com/office/officeart/2005/8/layout/vList2"/>
    <dgm:cxn modelId="{56AA8FE1-EF81-43DC-940B-6093A0087EF3}" srcId="{9C5FB0B3-323B-4B89-AA21-5E806C0CF4C5}" destId="{9C6BC526-918D-41F4-AF08-17036A4D9FF3}" srcOrd="7" destOrd="0" parTransId="{106955C5-8577-4467-A294-287971693CB2}" sibTransId="{0058EF9F-F948-4E85-AF10-E4E2A06762FE}"/>
    <dgm:cxn modelId="{EF7B8EE7-3EAA-45E6-BCB5-FE6962D8D9E0}" type="presOf" srcId="{9C6BC526-918D-41F4-AF08-17036A4D9FF3}" destId="{EA5FF672-BDD2-4B78-B2BA-77130FE85463}" srcOrd="0" destOrd="0" presId="urn:microsoft.com/office/officeart/2005/8/layout/vList2"/>
    <dgm:cxn modelId="{500BEAEE-4B8A-4222-BA28-2F8CABED8D03}" type="presOf" srcId="{A7B64AE9-84A5-4804-A771-53711283ABD7}" destId="{B8D7C09B-4AFA-447B-BC26-9C26119188A7}" srcOrd="0" destOrd="0" presId="urn:microsoft.com/office/officeart/2005/8/layout/vList2"/>
    <dgm:cxn modelId="{7DAA11F9-EC51-42A6-A146-EE67BC96ED8B}" srcId="{9C5FB0B3-323B-4B89-AA21-5E806C0CF4C5}" destId="{E7C548E7-ED2B-46B1-83BB-99FAB2E1921A}" srcOrd="0" destOrd="0" parTransId="{D1DF1261-4E21-4A9D-8693-8297F1759263}" sibTransId="{A174D257-E9E7-4346-B66A-ADF6F4C3D934}"/>
    <dgm:cxn modelId="{3C2D2C50-3CC7-4A24-9871-1EA02515702D}" type="presParOf" srcId="{32FD92EA-ABF4-4ACC-AFA1-512F9D207833}" destId="{E9CA653B-B7B3-43BF-8D3B-B2DA1B484177}" srcOrd="0" destOrd="0" presId="urn:microsoft.com/office/officeart/2005/8/layout/vList2"/>
    <dgm:cxn modelId="{A29AD2F0-64AF-46D0-9D89-B318AC7D5821}" type="presParOf" srcId="{32FD92EA-ABF4-4ACC-AFA1-512F9D207833}" destId="{A4B9463A-B516-4C7F-95CA-2A2CFBA5603A}" srcOrd="1" destOrd="0" presId="urn:microsoft.com/office/officeart/2005/8/layout/vList2"/>
    <dgm:cxn modelId="{4FA7F640-266B-4D37-80E8-93FBB9A44276}" type="presParOf" srcId="{32FD92EA-ABF4-4ACC-AFA1-512F9D207833}" destId="{2A4A2EAA-9326-4D1A-AADD-5CC5BBE8127E}" srcOrd="2" destOrd="0" presId="urn:microsoft.com/office/officeart/2005/8/layout/vList2"/>
    <dgm:cxn modelId="{7691CB8E-E7A8-4199-80F1-788FA77E2CE3}" type="presParOf" srcId="{32FD92EA-ABF4-4ACC-AFA1-512F9D207833}" destId="{9C3EB606-7057-4FC6-9F1A-81FF6F335B84}" srcOrd="3" destOrd="0" presId="urn:microsoft.com/office/officeart/2005/8/layout/vList2"/>
    <dgm:cxn modelId="{A4326E2D-AC30-4530-A743-9A91529B4BB6}" type="presParOf" srcId="{32FD92EA-ABF4-4ACC-AFA1-512F9D207833}" destId="{B8D7C09B-4AFA-447B-BC26-9C26119188A7}" srcOrd="4" destOrd="0" presId="urn:microsoft.com/office/officeart/2005/8/layout/vList2"/>
    <dgm:cxn modelId="{01FCEDE4-5691-44CE-A324-0E8D1A49E083}" type="presParOf" srcId="{32FD92EA-ABF4-4ACC-AFA1-512F9D207833}" destId="{FAA341E6-F36A-4334-BE10-412942987E84}" srcOrd="5" destOrd="0" presId="urn:microsoft.com/office/officeart/2005/8/layout/vList2"/>
    <dgm:cxn modelId="{66B71E52-6C2A-4652-8D8C-1E34B6C1113B}" type="presParOf" srcId="{32FD92EA-ABF4-4ACC-AFA1-512F9D207833}" destId="{6972100E-2C28-40C4-9678-AD668F61FA13}" srcOrd="6" destOrd="0" presId="urn:microsoft.com/office/officeart/2005/8/layout/vList2"/>
    <dgm:cxn modelId="{139E18AC-E610-4E01-8082-2EF8B318EC76}" type="presParOf" srcId="{32FD92EA-ABF4-4ACC-AFA1-512F9D207833}" destId="{C19FB566-D8E9-4018-BABC-C000ABC96CD6}" srcOrd="7" destOrd="0" presId="urn:microsoft.com/office/officeart/2005/8/layout/vList2"/>
    <dgm:cxn modelId="{64B8B5E8-A7A4-4179-BAE0-EFE29216B962}" type="presParOf" srcId="{32FD92EA-ABF4-4ACC-AFA1-512F9D207833}" destId="{AC4C8DDB-9CD9-477C-99DE-DC46C898EE61}" srcOrd="8" destOrd="0" presId="urn:microsoft.com/office/officeart/2005/8/layout/vList2"/>
    <dgm:cxn modelId="{0EEFBB5C-C296-47AB-BE61-8E6C42148603}" type="presParOf" srcId="{32FD92EA-ABF4-4ACC-AFA1-512F9D207833}" destId="{EA3E2B40-6B40-47D5-9EFF-C2BFF82D09D4}" srcOrd="9" destOrd="0" presId="urn:microsoft.com/office/officeart/2005/8/layout/vList2"/>
    <dgm:cxn modelId="{D8D4ED0F-0C2D-4955-B768-E051625DA1C2}" type="presParOf" srcId="{32FD92EA-ABF4-4ACC-AFA1-512F9D207833}" destId="{72CAEB67-87AD-43E5-95EF-0FE9F0683D32}" srcOrd="10" destOrd="0" presId="urn:microsoft.com/office/officeart/2005/8/layout/vList2"/>
    <dgm:cxn modelId="{05DA3B7B-1EB4-46F9-B312-EDCC99F5DC29}" type="presParOf" srcId="{32FD92EA-ABF4-4ACC-AFA1-512F9D207833}" destId="{1B054D73-2E28-4146-A50D-8A85CFDF6BF5}" srcOrd="11" destOrd="0" presId="urn:microsoft.com/office/officeart/2005/8/layout/vList2"/>
    <dgm:cxn modelId="{ECB125EA-78DA-4412-A195-E7AAA1735EF0}" type="presParOf" srcId="{32FD92EA-ABF4-4ACC-AFA1-512F9D207833}" destId="{1CEE176E-0095-479C-B717-6740DDE4A3E4}" srcOrd="12" destOrd="0" presId="urn:microsoft.com/office/officeart/2005/8/layout/vList2"/>
    <dgm:cxn modelId="{1EA7B352-90E6-4E75-B90D-9AEDF285E813}" type="presParOf" srcId="{32FD92EA-ABF4-4ACC-AFA1-512F9D207833}" destId="{658CF80B-7C83-4320-9A3A-EDADA38AEFB2}" srcOrd="13" destOrd="0" presId="urn:microsoft.com/office/officeart/2005/8/layout/vList2"/>
    <dgm:cxn modelId="{C1B320D5-1463-4A67-95E5-3C1898CB1871}" type="presParOf" srcId="{32FD92EA-ABF4-4ACC-AFA1-512F9D207833}" destId="{EA5FF672-BDD2-4B78-B2BA-77130FE85463}" srcOrd="14" destOrd="0" presId="urn:microsoft.com/office/officeart/2005/8/layout/vList2"/>
    <dgm:cxn modelId="{2708A006-F09B-4DC7-98E8-E75DEACA3DD0}" type="presParOf" srcId="{32FD92EA-ABF4-4ACC-AFA1-512F9D207833}" destId="{2BB8A76D-2BED-4009-AD9B-1225C464637C}" srcOrd="15" destOrd="0" presId="urn:microsoft.com/office/officeart/2005/8/layout/vList2"/>
    <dgm:cxn modelId="{D8936050-1964-438E-9C6D-9283B999B1F8}" type="presParOf" srcId="{32FD92EA-ABF4-4ACC-AFA1-512F9D207833}" destId="{23AA6125-CAB0-4959-AF3B-F672E96E9D90}" srcOrd="16" destOrd="0" presId="urn:microsoft.com/office/officeart/2005/8/layout/vList2"/>
    <dgm:cxn modelId="{3FFC8A12-B055-4D0C-8D04-23829442B6F2}" type="presParOf" srcId="{32FD92EA-ABF4-4ACC-AFA1-512F9D207833}" destId="{8A1E5445-7882-457E-9773-C87236FE497A}" srcOrd="17" destOrd="0" presId="urn:microsoft.com/office/officeart/2005/8/layout/vList2"/>
    <dgm:cxn modelId="{63C5C690-B509-486B-9BF0-D1549CB7F63F}" type="presParOf" srcId="{32FD92EA-ABF4-4ACC-AFA1-512F9D207833}" destId="{B3AEEEF5-FB5A-4DCA-8B27-081E3EF16189}" srcOrd="18" destOrd="0" presId="urn:microsoft.com/office/officeart/2005/8/layout/vList2"/>
    <dgm:cxn modelId="{09ED61EA-EFE7-44AA-AE22-03603C5D3309}" type="presParOf" srcId="{32FD92EA-ABF4-4ACC-AFA1-512F9D207833}" destId="{3E23B1DE-9EFE-4383-BF6E-996E91D2B19A}" srcOrd="19" destOrd="0" presId="urn:microsoft.com/office/officeart/2005/8/layout/vList2"/>
    <dgm:cxn modelId="{52EC0C52-57F1-4099-8852-2725E19A3FBC}" type="presParOf" srcId="{32FD92EA-ABF4-4ACC-AFA1-512F9D207833}" destId="{96B27035-FC61-48C0-BB95-8FE2BD6B4493}" srcOrd="20" destOrd="0" presId="urn:microsoft.com/office/officeart/2005/8/layout/vList2"/>
    <dgm:cxn modelId="{055B67F6-4B67-4EC9-97A2-895A179FDA1E}" type="presParOf" srcId="{32FD92EA-ABF4-4ACC-AFA1-512F9D207833}" destId="{E03DC423-6CA4-4115-BAC1-398CD9BEC061}" srcOrd="21" destOrd="0" presId="urn:microsoft.com/office/officeart/2005/8/layout/vList2"/>
    <dgm:cxn modelId="{80D5E44D-5F8A-4A86-A0C7-1F97C7680BF5}" type="presParOf" srcId="{32FD92EA-ABF4-4ACC-AFA1-512F9D207833}" destId="{28832BC1-0D2C-4A54-97EE-69EA184962A1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A653B-B7B3-43BF-8D3B-B2DA1B484177}">
      <dsp:nvSpPr>
        <dsp:cNvPr id="0" name=""/>
        <dsp:cNvSpPr/>
      </dsp:nvSpPr>
      <dsp:spPr>
        <a:xfrm>
          <a:off x="0" y="52320"/>
          <a:ext cx="5175384" cy="4077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Critical Missing Data: Weather forecasts</a:t>
          </a:r>
        </a:p>
      </dsp:txBody>
      <dsp:txXfrm>
        <a:off x="19904" y="72224"/>
        <a:ext cx="5135576" cy="367937"/>
      </dsp:txXfrm>
    </dsp:sp>
    <dsp:sp modelId="{2A4A2EAA-9326-4D1A-AADD-5CC5BBE8127E}">
      <dsp:nvSpPr>
        <dsp:cNvPr id="0" name=""/>
        <dsp:cNvSpPr/>
      </dsp:nvSpPr>
      <dsp:spPr>
        <a:xfrm>
          <a:off x="0" y="509025"/>
          <a:ext cx="5175384" cy="407745"/>
        </a:xfrm>
        <a:prstGeom prst="roundRect">
          <a:avLst/>
        </a:prstGeom>
        <a:solidFill>
          <a:schemeClr val="accent2">
            <a:hueOff val="425593"/>
            <a:satOff val="-531"/>
            <a:lumOff val="1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Wind speed, solar irradiance, cloud cover</a:t>
          </a:r>
        </a:p>
      </dsp:txBody>
      <dsp:txXfrm>
        <a:off x="19904" y="528929"/>
        <a:ext cx="5135576" cy="367937"/>
      </dsp:txXfrm>
    </dsp:sp>
    <dsp:sp modelId="{B8D7C09B-4AFA-447B-BC26-9C26119188A7}">
      <dsp:nvSpPr>
        <dsp:cNvPr id="0" name=""/>
        <dsp:cNvSpPr/>
      </dsp:nvSpPr>
      <dsp:spPr>
        <a:xfrm>
          <a:off x="0" y="965730"/>
          <a:ext cx="5175384" cy="407745"/>
        </a:xfrm>
        <a:prstGeom prst="roundRect">
          <a:avLst/>
        </a:prstGeom>
        <a:solidFill>
          <a:schemeClr val="accent2">
            <a:hueOff val="851185"/>
            <a:satOff val="-1062"/>
            <a:lumOff val="25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Direct drivers of generation</a:t>
          </a:r>
        </a:p>
      </dsp:txBody>
      <dsp:txXfrm>
        <a:off x="19904" y="985634"/>
        <a:ext cx="5135576" cy="367937"/>
      </dsp:txXfrm>
    </dsp:sp>
    <dsp:sp modelId="{6972100E-2C28-40C4-9678-AD668F61FA13}">
      <dsp:nvSpPr>
        <dsp:cNvPr id="0" name=""/>
        <dsp:cNvSpPr/>
      </dsp:nvSpPr>
      <dsp:spPr>
        <a:xfrm>
          <a:off x="0" y="1422435"/>
          <a:ext cx="5175384" cy="407745"/>
        </a:xfrm>
        <a:prstGeom prst="roundRect">
          <a:avLst/>
        </a:prstGeom>
        <a:solidFill>
          <a:schemeClr val="accent2">
            <a:hueOff val="1276778"/>
            <a:satOff val="-1592"/>
            <a:lumOff val="3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Impact on Evaluation:</a:t>
          </a:r>
        </a:p>
      </dsp:txBody>
      <dsp:txXfrm>
        <a:off x="19904" y="1442339"/>
        <a:ext cx="5135576" cy="367937"/>
      </dsp:txXfrm>
    </dsp:sp>
    <dsp:sp modelId="{AC4C8DDB-9CD9-477C-99DE-DC46C898EE61}">
      <dsp:nvSpPr>
        <dsp:cNvPr id="0" name=""/>
        <dsp:cNvSpPr/>
      </dsp:nvSpPr>
      <dsp:spPr>
        <a:xfrm>
          <a:off x="0" y="1879140"/>
          <a:ext cx="5175384" cy="407745"/>
        </a:xfrm>
        <a:prstGeom prst="roundRect">
          <a:avLst/>
        </a:prstGeom>
        <a:solidFill>
          <a:schemeClr val="accent2">
            <a:hueOff val="1702371"/>
            <a:satOff val="-2123"/>
            <a:lumOff val="4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Obtain historical weather (DWD archives)</a:t>
          </a:r>
        </a:p>
      </dsp:txBody>
      <dsp:txXfrm>
        <a:off x="19904" y="1899044"/>
        <a:ext cx="5135576" cy="367937"/>
      </dsp:txXfrm>
    </dsp:sp>
    <dsp:sp modelId="{72CAEB67-87AD-43E5-95EF-0FE9F0683D32}">
      <dsp:nvSpPr>
        <dsp:cNvPr id="0" name=""/>
        <dsp:cNvSpPr/>
      </dsp:nvSpPr>
      <dsp:spPr>
        <a:xfrm>
          <a:off x="0" y="2335845"/>
          <a:ext cx="5175384" cy="407745"/>
        </a:xfrm>
        <a:prstGeom prst="roundRect">
          <a:avLst/>
        </a:prstGeom>
        <a:solidFill>
          <a:schemeClr val="accent2">
            <a:hueOff val="2127963"/>
            <a:satOff val="-2654"/>
            <a:lumOff val="6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Add as model features</a:t>
          </a:r>
        </a:p>
      </dsp:txBody>
      <dsp:txXfrm>
        <a:off x="19904" y="2355749"/>
        <a:ext cx="5135576" cy="367937"/>
      </dsp:txXfrm>
    </dsp:sp>
    <dsp:sp modelId="{1CEE176E-0095-479C-B717-6740DDE4A3E4}">
      <dsp:nvSpPr>
        <dsp:cNvPr id="0" name=""/>
        <dsp:cNvSpPr/>
      </dsp:nvSpPr>
      <dsp:spPr>
        <a:xfrm>
          <a:off x="0" y="2792550"/>
          <a:ext cx="5175384" cy="407745"/>
        </a:xfrm>
        <a:prstGeom prst="roundRect">
          <a:avLst/>
        </a:prstGeom>
        <a:solidFill>
          <a:schemeClr val="accent2">
            <a:hueOff val="2553556"/>
            <a:satOff val="-3185"/>
            <a:lumOff val="7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Train “SARIMAX”</a:t>
          </a:r>
        </a:p>
      </dsp:txBody>
      <dsp:txXfrm>
        <a:off x="19904" y="2812454"/>
        <a:ext cx="5135576" cy="367937"/>
      </dsp:txXfrm>
    </dsp:sp>
    <dsp:sp modelId="{EA5FF672-BDD2-4B78-B2BA-77130FE85463}">
      <dsp:nvSpPr>
        <dsp:cNvPr id="0" name=""/>
        <dsp:cNvSpPr/>
      </dsp:nvSpPr>
      <dsp:spPr>
        <a:xfrm>
          <a:off x="0" y="3249255"/>
          <a:ext cx="5175384" cy="407745"/>
        </a:xfrm>
        <a:prstGeom prst="roundRect">
          <a:avLst/>
        </a:prstGeom>
        <a:solidFill>
          <a:schemeClr val="accent2">
            <a:hueOff val="2979148"/>
            <a:satOff val="-3716"/>
            <a:lumOff val="8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Expected improvement: +5-30%</a:t>
          </a:r>
        </a:p>
      </dsp:txBody>
      <dsp:txXfrm>
        <a:off x="19904" y="3269159"/>
        <a:ext cx="5135576" cy="367937"/>
      </dsp:txXfrm>
    </dsp:sp>
    <dsp:sp modelId="{23AA6125-CAB0-4959-AF3B-F672E96E9D90}">
      <dsp:nvSpPr>
        <dsp:cNvPr id="0" name=""/>
        <dsp:cNvSpPr/>
      </dsp:nvSpPr>
      <dsp:spPr>
        <a:xfrm>
          <a:off x="0" y="3705960"/>
          <a:ext cx="5175384" cy="407745"/>
        </a:xfrm>
        <a:prstGeom prst="roundRect">
          <a:avLst/>
        </a:prstGeom>
        <a:solidFill>
          <a:schemeClr val="accent2">
            <a:hueOff val="3404741"/>
            <a:satOff val="-4247"/>
            <a:lumOff val="9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Production Integration:</a:t>
          </a:r>
        </a:p>
      </dsp:txBody>
      <dsp:txXfrm>
        <a:off x="19904" y="3725864"/>
        <a:ext cx="5135576" cy="367937"/>
      </dsp:txXfrm>
    </dsp:sp>
    <dsp:sp modelId="{B3AEEEF5-FB5A-4DCA-8B27-081E3EF16189}">
      <dsp:nvSpPr>
        <dsp:cNvPr id="0" name=""/>
        <dsp:cNvSpPr/>
      </dsp:nvSpPr>
      <dsp:spPr>
        <a:xfrm>
          <a:off x="0" y="4162665"/>
          <a:ext cx="5175384" cy="407745"/>
        </a:xfrm>
        <a:prstGeom prst="roundRect">
          <a:avLst/>
        </a:prstGeom>
        <a:solidFill>
          <a:schemeClr val="accent2">
            <a:hueOff val="3830334"/>
            <a:satOff val="-4777"/>
            <a:lumOff val="11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Fetch forecasts at 10:00 CET daily</a:t>
          </a:r>
        </a:p>
      </dsp:txBody>
      <dsp:txXfrm>
        <a:off x="19904" y="4182569"/>
        <a:ext cx="5135576" cy="367937"/>
      </dsp:txXfrm>
    </dsp:sp>
    <dsp:sp modelId="{96B27035-FC61-48C0-BB95-8FE2BD6B4493}">
      <dsp:nvSpPr>
        <dsp:cNvPr id="0" name=""/>
        <dsp:cNvSpPr/>
      </dsp:nvSpPr>
      <dsp:spPr>
        <a:xfrm>
          <a:off x="0" y="4619370"/>
          <a:ext cx="5175384" cy="407745"/>
        </a:xfrm>
        <a:prstGeom prst="roundRect">
          <a:avLst/>
        </a:prstGeom>
        <a:solidFill>
          <a:schemeClr val="accent2">
            <a:hueOff val="4255926"/>
            <a:satOff val="-5308"/>
            <a:lumOff val="12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Feed into model as exogenous variables</a:t>
          </a:r>
        </a:p>
      </dsp:txBody>
      <dsp:txXfrm>
        <a:off x="19904" y="4639274"/>
        <a:ext cx="5135576" cy="367937"/>
      </dsp:txXfrm>
    </dsp:sp>
    <dsp:sp modelId="{28832BC1-0D2C-4A54-97EE-69EA184962A1}">
      <dsp:nvSpPr>
        <dsp:cNvPr id="0" name=""/>
        <dsp:cNvSpPr/>
      </dsp:nvSpPr>
      <dsp:spPr>
        <a:xfrm>
          <a:off x="0" y="5076075"/>
          <a:ext cx="5175384" cy="40774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Generate predictions by 12:00 CET</a:t>
          </a:r>
        </a:p>
      </dsp:txBody>
      <dsp:txXfrm>
        <a:off x="19904" y="5095979"/>
        <a:ext cx="5135576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074024"/>
            <a:ext cx="7581900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3366"/>
                </a:solidFill>
              </a:defRPr>
            </a:pPr>
            <a:r>
              <a:rPr lang="en-US" sz="3100">
                <a:latin typeface="+mj-lt"/>
                <a:ea typeface="+mj-ea"/>
                <a:cs typeface="+mj-cs"/>
              </a:rPr>
              <a:t>Day-Ahead Renewable Energy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5672059"/>
            <a:ext cx="7581900" cy="54776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400"/>
            </a:pPr>
            <a:r>
              <a:rPr lang="en-US" sz="1600" dirty="0"/>
              <a:t>Reducing Penalty Costs in German Energy Auctions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400"/>
            </a:pPr>
            <a:r>
              <a:rPr lang="en-US" sz="1600" dirty="0"/>
              <a:t>Juan Fernandez – 10/11/2025</a:t>
            </a:r>
          </a:p>
        </p:txBody>
      </p:sp>
      <p:pic>
        <p:nvPicPr>
          <p:cNvPr id="5" name="Picture 4" descr="Wind farm at twilight">
            <a:extLst>
              <a:ext uri="{FF2B5EF4-FFF2-40B4-BE49-F238E27FC236}">
                <a16:creationId xmlns:a16="http://schemas.microsoft.com/office/drawing/2014/main" id="{87B8DAA4-0945-61D7-4D74-343C6DB111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94"/>
          <a:stretch>
            <a:fillRect/>
          </a:stretch>
        </p:blipFill>
        <p:spPr>
          <a:xfrm>
            <a:off x="20" y="-39"/>
            <a:ext cx="9143980" cy="41727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4811517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Problem &amp; Current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512" y="1885279"/>
            <a:ext cx="3828436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 dirty="0"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1800"/>
            </a:pPr>
            <a:r>
              <a:rPr lang="en-US" sz="1600" b="1" dirty="0"/>
              <a:t>Client Challenge: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  - Owns renewable capacity in Germany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  - Must nominate hourly production for next day (12:00 CET deadline)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  - Penalty: EUR 50 per MWh prediction error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endParaRPr lang="en-US" sz="1300" dirty="0"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1800"/>
            </a:pPr>
            <a:r>
              <a:rPr lang="en-US" sz="1600" b="1" dirty="0"/>
              <a:t>Current Approach: Naive Baseline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  - Assumes tomorrow = yesterday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  - Simple but suboptimal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endParaRPr lang="en-US" sz="1300" dirty="0"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1800"/>
            </a:pPr>
            <a:r>
              <a:rPr lang="en-US" sz="1600" b="1" dirty="0"/>
              <a:t>Objective: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pPr>
            <a:r>
              <a:rPr lang="en-US" sz="1300" dirty="0"/>
              <a:t>Build forecasting model to reduce penalty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569579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 i="1">
                <a:solidFill>
                  <a:srgbClr val="646464"/>
                </a:solidFill>
              </a:defRPr>
            </a:pPr>
            <a:r>
              <a:rPr lang="en-US" sz="1000"/>
              <a:t>Day-ahead auction: Grid operators require 24-hour production nominations to balance supply and 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016A3-4BA0-A6A2-8752-2CC914C67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396" y="2517464"/>
            <a:ext cx="4356399" cy="2634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E4836-0218-5E18-24AE-A9A6EB565CCF}"/>
              </a:ext>
            </a:extLst>
          </p:cNvPr>
          <p:cNvSpPr txBox="1"/>
          <p:nvPr/>
        </p:nvSpPr>
        <p:spPr>
          <a:xfrm>
            <a:off x="4287396" y="5276076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effectLst/>
                <a:latin typeface="Segoe WPC"/>
              </a:rPr>
              <a:t>SARIMA is modeling </a:t>
            </a:r>
            <a:r>
              <a:rPr lang="en-US" sz="1200" b="1" i="1" dirty="0">
                <a:effectLst/>
                <a:latin typeface="Segoe WPC"/>
              </a:rPr>
              <a:t>how the time series evolves</a:t>
            </a:r>
            <a:r>
              <a:rPr lang="en-US" sz="1200" b="0" i="1" dirty="0">
                <a:effectLst/>
                <a:latin typeface="Segoe WPC"/>
              </a:rPr>
              <a:t>, not learning a static input-output mapping!</a:t>
            </a:r>
          </a:p>
          <a:p>
            <a:r>
              <a:rPr lang="en-US" sz="1200" i="1" dirty="0"/>
              <a:t>Learns autocorrelations, moving averages, seasonal patterns</a:t>
            </a:r>
          </a:p>
          <a:p>
            <a:r>
              <a:rPr lang="en-US" sz="1200" b="1" i="1" dirty="0"/>
              <a:t>Retrains completely each iteration</a:t>
            </a:r>
            <a:endParaRPr lang="en-US" sz="1200" i="1" dirty="0"/>
          </a:p>
          <a:p>
            <a:endParaRPr lang="en-DE" sz="12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DB9BF-7627-C0C9-56D1-7424409A8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9" y="225400"/>
            <a:ext cx="4048690" cy="6230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90E8CA-ECFC-21B1-1504-6C8F596CC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133" y="1676628"/>
            <a:ext cx="3358300" cy="6976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0A2C00-5731-F75E-86C7-34FE67724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89673"/>
            <a:ext cx="4143953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8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/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628" y="1028454"/>
            <a:ext cx="3591426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/>
            </a:pPr>
            <a:r>
              <a:rPr sz="1600" b="1" dirty="0"/>
              <a:t>Dataset: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  - Source: Energy-charts.info (German grid data)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  - Period: 2022-2024 (3 years, 26,000+ hours)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  - Technologies: Solar, Wind Onshore, Wind Offshore</a:t>
            </a:r>
          </a:p>
          <a:p>
            <a:pPr>
              <a:spcBef>
                <a:spcPts val="1000"/>
              </a:spcBef>
              <a:defRPr sz="1800"/>
            </a:pPr>
            <a:r>
              <a:rPr sz="1600" b="1" dirty="0"/>
              <a:t>Approach: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- SARIMAX model with 24-hour day-ahead predictions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- Walk-forward validation (7-day </a:t>
            </a:r>
            <a:r>
              <a:rPr sz="1200" dirty="0" err="1"/>
              <a:t>backtest</a:t>
            </a:r>
            <a:r>
              <a:rPr sz="1200" dirty="0"/>
              <a:t>)</a:t>
            </a:r>
          </a:p>
          <a:p>
            <a:pPr>
              <a:spcBef>
                <a:spcPts val="1000"/>
              </a:spcBef>
              <a:defRPr sz="1800"/>
            </a:pPr>
            <a:r>
              <a:rPr sz="1200" dirty="0"/>
              <a:t>Key Pattern: Strong 24-hour daily cycles (especially solar)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rPr lang="en-US"/>
              <a:t>Walk-forward validation: Predict tomorrow, evaluate, move forward, repeat. Prevents data leakage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A5D5F-67EE-3F2B-EB78-54E2F2CF2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91" y="1122765"/>
            <a:ext cx="4611329" cy="33397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2EF92C-6DBF-1024-FF9F-629EDC36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843" y="4602077"/>
            <a:ext cx="5743022" cy="1476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Results - Cost Reduction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5538"/>
            <a:ext cx="2870036" cy="36984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sz="1600" dirty="0"/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Model Performance (7-Day </a:t>
            </a:r>
            <a:r>
              <a:rPr sz="1600" dirty="0" err="1"/>
              <a:t>Backtest</a:t>
            </a:r>
            <a:r>
              <a:rPr sz="1600" dirty="0"/>
              <a:t>):</a:t>
            </a:r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  - Baseline: EUR 6.3 million/day</a:t>
            </a:r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  - SARIMAX: EUR 4.2 million/day</a:t>
            </a:r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Savings:</a:t>
            </a:r>
          </a:p>
          <a:p>
            <a:pPr>
              <a:spcBef>
                <a:spcPts val="1000"/>
              </a:spcBef>
              <a:defRPr sz="1800"/>
            </a:pPr>
            <a:r>
              <a:rPr sz="1600" b="1" dirty="0"/>
              <a:t>  - Daily: EUR 2.1 million</a:t>
            </a:r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  - Improvement: 34%</a:t>
            </a:r>
          </a:p>
          <a:p>
            <a:pPr>
              <a:spcBef>
                <a:spcPts val="1000"/>
              </a:spcBef>
              <a:defRPr sz="1800"/>
            </a:pPr>
            <a:r>
              <a:rPr sz="1600" dirty="0"/>
              <a:t>  - Yearly projection: EUR 781 million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464"/>
                </a:solidFill>
              </a:defRPr>
            </a:pPr>
            <a:r>
              <a:t>MAE: Baseline 5,284 MW vs SARIMAX 3,501 MW. SARIMAX with walk-forward (predict 24h, retrain, repeat)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0C124-2AB6-15B3-EEB1-AE4FA484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664" y="1145197"/>
            <a:ext cx="5002310" cy="311464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94245F-8B1F-242D-630D-43F156E9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34938"/>
              </p:ext>
            </p:extLst>
          </p:nvPr>
        </p:nvGraphicFramePr>
        <p:xfrm>
          <a:off x="3740150" y="4491286"/>
          <a:ext cx="4946650" cy="1325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73325">
                  <a:extLst>
                    <a:ext uri="{9D8B030D-6E8A-4147-A177-3AD203B41FA5}">
                      <a16:colId xmlns:a16="http://schemas.microsoft.com/office/drawing/2014/main" val="3792613429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1580241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Daily Cost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37811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Baseline </a:t>
                      </a:r>
                    </a:p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(Yesterday=Tomorrow)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€6.3 million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760232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</a:rPr>
                        <a:t>SARIMAX (Our Model)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€4.2 million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9801704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6250" y="640823"/>
            <a:ext cx="2563994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Missing Key Data: Weather Forecasts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651011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 i="1">
                <a:solidFill>
                  <a:srgbClr val="646464"/>
                </a:solidFill>
              </a:defRPr>
            </a:pPr>
            <a:r>
              <a:rPr lang="en-US" sz="1000"/>
              <a:t>DWD = German Weather Service. Weather integration would capture day-to-day changes missed by pattern-based models</a:t>
            </a:r>
          </a:p>
        </p:txBody>
      </p:sp>
      <p:graphicFrame>
        <p:nvGraphicFramePr>
          <p:cNvPr id="37" name="TextBox 2">
            <a:extLst>
              <a:ext uri="{FF2B5EF4-FFF2-40B4-BE49-F238E27FC236}">
                <a16:creationId xmlns:a16="http://schemas.microsoft.com/office/drawing/2014/main" id="{4592863D-9F46-AB71-5363-CDE614EC24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69844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4582" y="552091"/>
            <a:ext cx="3261879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Production Deployment Plan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612699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 i="1">
                <a:solidFill>
                  <a:srgbClr val="646464"/>
                </a:solidFill>
              </a:defRPr>
            </a:pPr>
            <a:r>
              <a:rPr lang="en-US" sz="1000"/>
              <a:t>Architecture: Docker containers, PostgreSQL storage, Grafana monitoring, weekly retraining. See DEPLOYMENT.md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FB075-BC3F-6D07-F938-15C20E205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813" y="1601217"/>
            <a:ext cx="4900015" cy="36555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412</Words>
  <Application>Microsoft Office PowerPoint</Application>
  <PresentationFormat>On-screen Show (4:3)</PresentationFormat>
  <Paragraphs>63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Fernandez</cp:lastModifiedBy>
  <cp:revision>15</cp:revision>
  <dcterms:created xsi:type="dcterms:W3CDTF">2013-01-27T09:14:16Z</dcterms:created>
  <dcterms:modified xsi:type="dcterms:W3CDTF">2025-11-10T07:30:23Z</dcterms:modified>
  <cp:category/>
</cp:coreProperties>
</file>